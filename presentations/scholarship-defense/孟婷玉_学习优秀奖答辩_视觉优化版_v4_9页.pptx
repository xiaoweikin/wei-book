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d281db122fc4aa6" /><Relationship Type="http://schemas.openxmlformats.org/officeDocument/2006/relationships/extended-properties" Target="/docProps/app.xml" Id="R9cd6c048ff2a4c14" /><Relationship Type="http://schemas.openxmlformats.org/officeDocument/2006/relationships/officeDocument" Target="/ppt/presentation.xml" Id="R1635c654c7af4c1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056570dc7a04785"/>
  </p:sldMasterIdLst>
  <p:notesMasterIdLst>
    <p:notesMasterId xmlns:r="http://schemas.openxmlformats.org/officeDocument/2006/relationships" r:id="R1179b660bfd14d40"/>
  </p:notesMasterIdLst>
  <p:sldIdLst>
    <p:sldId xmlns:r="http://schemas.openxmlformats.org/officeDocument/2006/relationships" id="256" r:id="R772e7b72b7c14cb7"/>
    <p:sldId xmlns:r="http://schemas.openxmlformats.org/officeDocument/2006/relationships" id="257" r:id="R1215b0d05e1c4e31"/>
    <p:sldId xmlns:r="http://schemas.openxmlformats.org/officeDocument/2006/relationships" id="258" r:id="R8554fdb6e9434240"/>
    <p:sldId xmlns:r="http://schemas.openxmlformats.org/officeDocument/2006/relationships" id="259" r:id="Rdd87cf82acad4671"/>
    <p:sldId xmlns:r="http://schemas.openxmlformats.org/officeDocument/2006/relationships" id="260" r:id="R7bd9de59c2d44196"/>
    <p:sldId xmlns:r="http://schemas.openxmlformats.org/officeDocument/2006/relationships" id="261" r:id="Rafdb74a4004b459d"/>
    <p:sldId xmlns:r="http://schemas.openxmlformats.org/officeDocument/2006/relationships" id="262" r:id="R68bb4527add5463b"/>
    <p:sldId xmlns:r="http://schemas.openxmlformats.org/officeDocument/2006/relationships" id="263" r:id="R50a066c973a8484e"/>
    <p:sldId xmlns:r="http://schemas.openxmlformats.org/officeDocument/2006/relationships" id="264" r:id="Rb7ff51af3b854d2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b463829f94549f4" /><Relationship Type="http://schemas.openxmlformats.org/officeDocument/2006/relationships/slideMaster" Target="/ppt/slideMasters/slideMaster1.xml" Id="R7056570dc7a04785" /><Relationship Type="http://schemas.openxmlformats.org/officeDocument/2006/relationships/notesMaster" Target="/ppt/notesMasters/notesMaster1.xml" Id="R1179b660bfd14d40" /><Relationship Type="http://schemas.openxmlformats.org/officeDocument/2006/relationships/presProps" Target="/ppt/presProps.xml" Id="R4689feb3f60f47c8" /><Relationship Type="http://schemas.openxmlformats.org/officeDocument/2006/relationships/tableStyles" Target="/ppt/tableStyles.xml" Id="R16b7085ddd6c4eac" /><Relationship Type="http://schemas.openxmlformats.org/officeDocument/2006/relationships/slide" Target="/ppt/slides/slide1.xml" Id="R772e7b72b7c14cb7" /><Relationship Type="http://schemas.openxmlformats.org/officeDocument/2006/relationships/slide" Target="/ppt/slides/slide2.xml" Id="R1215b0d05e1c4e31" /><Relationship Type="http://schemas.openxmlformats.org/officeDocument/2006/relationships/slide" Target="/ppt/slides/slide3.xml" Id="R8554fdb6e9434240" /><Relationship Type="http://schemas.openxmlformats.org/officeDocument/2006/relationships/slide" Target="/ppt/slides/slide4.xml" Id="Rdd87cf82acad4671" /><Relationship Type="http://schemas.openxmlformats.org/officeDocument/2006/relationships/slide" Target="/ppt/slides/slide5.xml" Id="R7bd9de59c2d44196" /><Relationship Type="http://schemas.openxmlformats.org/officeDocument/2006/relationships/slide" Target="/ppt/slides/slide6.xml" Id="Rafdb74a4004b459d" /><Relationship Type="http://schemas.openxmlformats.org/officeDocument/2006/relationships/slide" Target="/ppt/slides/slide7.xml" Id="R68bb4527add5463b" /><Relationship Type="http://schemas.openxmlformats.org/officeDocument/2006/relationships/slide" Target="/ppt/slides/slide8.xml" Id="R50a066c973a8484e" /><Relationship Type="http://schemas.openxmlformats.org/officeDocument/2006/relationships/slide" Target="/ppt/slides/slide9.xml" Id="Rb7ff51af3b854d2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e4ddc48098a4c6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f2fd61252194df2" /><Relationship Type="http://schemas.openxmlformats.org/officeDocument/2006/relationships/notesMaster" Target="/ppt/notesMasters/notesMaster1.xml" Id="R96857136ca7249e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afc0e25caef46ab" /><Relationship Type="http://schemas.openxmlformats.org/officeDocument/2006/relationships/notesMaster" Target="/ppt/notesMasters/notesMaster1.xml" Id="R86dfa1afa5d9415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48df5e8b7c54160" /><Relationship Type="http://schemas.openxmlformats.org/officeDocument/2006/relationships/notesMaster" Target="/ppt/notesMasters/notesMaster1.xml" Id="R5155c9cf4a984e4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62e08a62f4d4ec8" /><Relationship Type="http://schemas.openxmlformats.org/officeDocument/2006/relationships/notesMaster" Target="/ppt/notesMasters/notesMaster1.xml" Id="R7840fe3099d641e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10e2e1285f14148" /><Relationship Type="http://schemas.openxmlformats.org/officeDocument/2006/relationships/notesMaster" Target="/ppt/notesMasters/notesMaster1.xml" Id="R0c0b2bbf16914a4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2a086b1929745f0" /><Relationship Type="http://schemas.openxmlformats.org/officeDocument/2006/relationships/notesMaster" Target="/ppt/notesMasters/notesMaster1.xml" Id="R79f961b1944c4dd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7fd9b51fe4441b6" /><Relationship Type="http://schemas.openxmlformats.org/officeDocument/2006/relationships/notesMaster" Target="/ppt/notesMasters/notesMaster1.xml" Id="Rdae1cfeec1bf4b6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77d7a08fea94928" /><Relationship Type="http://schemas.openxmlformats.org/officeDocument/2006/relationships/notesMaster" Target="/ppt/notesMasters/notesMaster1.xml" Id="R3499749a12df4c8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5031f0bb4ae458f" /><Relationship Type="http://schemas.openxmlformats.org/officeDocument/2006/relationships/notesMaster" Target="/ppt/notesMasters/notesMaster1.xml" Id="Rf55b4d27a0dd4bf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各位老师好，我是信息工程学院2025级通信专业2502班的孟婷玉。本次申报的是2025—2026学年“卓越青年”学习优秀奖。接下来汇报我的学业情况、英语学习、竞赛实践和校级荣誉。</a:t>
            </a:r>
          </a:p>
          <a:p xmlns:a="http://schemas.openxmlformats.org/drawingml/2006/main">
            <a:r>
              <a:t>图片来源：天津商业大学国际交流处《天津商业大学-校园风景》，https://ied.tjcu.edu.cn/info/1048/3607.htm 。校园照片仅作学校环境背景。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我的大一学习成果主要有四项：学业绩点3.33，学习成绩排名14/104；在大一学年先后通过大学英语四级和六级；担任队长参加大唐杯并获天津省赛区三等奖；获得校级三好学生称号和校级二等奖学金。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本学年我的学习成绩排名为14/104，约前13.5%，班级排名7/35，绩点3.33，综合成绩第12名。本学年无挂科，思想品德考评为优秀。</a:t>
            </a:r>
          </a:p>
          <a:p xmlns:a="http://schemas.openxmlformats.org/drawingml/2006/main">
            <a:r>
              <a:t>图片来源：天津商业大学国际交流处《天津商业大学-校园风景》，https://ied.tjcu.edu.cn/info/1048/3607.htm 。校园照片仅作学校环境背景。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英语学习是我大一学年比较有代表性的一项成果。2025年12月，我取得四级523分；2026年6月取得六级452分，在大一学年完成了四六级考试目标。对我而言，更重要的是尽早完成阶段目标，为后续学习专业英文资料打下基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这页展示两份成绩报告单的笔试部分，考试时间、总分及分项成绩均保留。下一阶段，我会继续加强听力与写作训练。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在第十三届大学生新一代信息通信科技大赛工程实践赛道中，我与王迪同学共同参赛，获得天津省赛区三等奖。我担任队长，负责小组分工，并承担主要答题任务。这次经历让我在专业学习之外，承担了团队协作中的具体责任。赛事名称、赛道和奖项以本页证书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本学年，我还获得了校级三好学生称号和校级二等奖学金。这些荣誉是对我已有学习与综合表现的肯定，也提醒我在后续学习中继续保持投入。</a:t>
            </a:r>
          </a:p>
          <a:p xmlns:a="http://schemas.openxmlformats.org/drawingml/2006/main">
            <a:r>
              <a:t>图片来源：天津商业大学国际交流处《天津商业大学-校园风景》，https://ied.tjcu.edu.cn/info/1048/3607.htm 。校园照片仅作学校环境背景。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下一阶段，我计划把学习安排做得更具体：专业课程每周整理错题并检查掌握情况；英语继续投入听力和写作，逐步尝试通信专业英文资料；竞赛中记录个人任务和复盘，积累实践经验。这些是后续计划。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以上是我的汇报。感谢各位老师，恳请批评指正。</a:t>
            </a:r>
          </a:p>
          <a:p xmlns:a="http://schemas.openxmlformats.org/drawingml/2006/main">
            <a:r>
              <a:t>图片来源：天津商业大学国际交流处《天津商业大学-校园风景》，https://ied.tjcu.edu.cn/info/1048/3607.htm 。校园照片仅作学校环境背景。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ca1a68c8b3438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a5c86c1778b4b66" /><Relationship Type="http://schemas.openxmlformats.org/officeDocument/2006/relationships/slideLayout" Target="/ppt/slideLayouts/slideLayout1.xml" Id="R7e6fb4de77f6489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e6fb4de77f6489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e2ff440c8447a9" /><Relationship Type="http://schemas.openxmlformats.org/officeDocument/2006/relationships/image" Target="/ppt/media/image.jpeg" Id="Rfdc87eb615e94e8a" /><Relationship Type="http://schemas.openxmlformats.org/officeDocument/2006/relationships/image" Target="/ppt/media/image.png" Id="Rce18643c06bc4c02" /><Relationship Type="http://schemas.openxmlformats.org/officeDocument/2006/relationships/notesSlide" Target="/ppt/notesSlides/notesSlide1.xml" Id="R93dd11d78fa6484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e016be831a45c2" /><Relationship Type="http://schemas.openxmlformats.org/officeDocument/2006/relationships/notesSlide" Target="/ppt/notesSlides/notesSlide2.xml" Id="R252d3964550f427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eceddbef834c10" /><Relationship Type="http://schemas.openxmlformats.org/officeDocument/2006/relationships/image" Target="/ppt/media/image2.jpeg" Id="R7530bd4da8be40ba" /><Relationship Type="http://schemas.openxmlformats.org/officeDocument/2006/relationships/notesSlide" Target="/ppt/notesSlides/notesSlide3.xml" Id="Rf2d20adff4b4423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9ed681098646d1" /><Relationship Type="http://schemas.openxmlformats.org/officeDocument/2006/relationships/notesSlide" Target="/ppt/notesSlides/notesSlide4.xml" Id="R6146825d61a44ce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0c0bf299f3456a" /><Relationship Type="http://schemas.openxmlformats.org/officeDocument/2006/relationships/image" Target="/ppt/media/image2.png" Id="R01b388298aef4900" /><Relationship Type="http://schemas.openxmlformats.org/officeDocument/2006/relationships/image" Target="/ppt/media/image3.png" Id="R1b0a4bdead2b4fc9" /><Relationship Type="http://schemas.openxmlformats.org/officeDocument/2006/relationships/notesSlide" Target="/ppt/notesSlides/notesSlide5.xml" Id="Rc4700659aaa9421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63a62beb2a4a87" /><Relationship Type="http://schemas.openxmlformats.org/officeDocument/2006/relationships/image" Target="/ppt/media/image3.jpeg" Id="Rf2198c83cf7b4b96" /><Relationship Type="http://schemas.openxmlformats.org/officeDocument/2006/relationships/notesSlide" Target="/ppt/notesSlides/notesSlide6.xml" Id="Rb4e15674a335477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9a3421ef18446f" /><Relationship Type="http://schemas.openxmlformats.org/officeDocument/2006/relationships/image" Target="/ppt/media/image4.jpeg" Id="Rcf67d56d531247bc" /><Relationship Type="http://schemas.openxmlformats.org/officeDocument/2006/relationships/notesSlide" Target="/ppt/notesSlides/notesSlide7.xml" Id="R4638e2d711e4404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732575fff94f6e" /><Relationship Type="http://schemas.openxmlformats.org/officeDocument/2006/relationships/notesSlide" Target="/ppt/notesSlides/notesSlide8.xml" Id="Rfb569354f2a74b6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8dc554dd2241b3" /><Relationship Type="http://schemas.openxmlformats.org/officeDocument/2006/relationships/image" Target="/ppt/media/image5.jpeg" Id="Re39f5d3485a34069" /><Relationship Type="http://schemas.openxmlformats.org/officeDocument/2006/relationships/image" Target="/ppt/media/image4.png" Id="R8cc36890064a49f3" /><Relationship Type="http://schemas.openxmlformats.org/officeDocument/2006/relationships/notesSlide" Target="/ppt/notesSlides/notesSlide9.xml" Id="Rc436a36b3cf648c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D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c87eb615e94e8a"/>
          <a:stretch xmlns:a="http://schemas.openxmlformats.org/drawingml/2006/main"/>
        </p:blipFill>
        <p:spPr>
          <a:xfrm xmlns:a="http://schemas.openxmlformats.org/drawingml/2006/main">
            <a:off x="6477000" y="0"/>
            <a:ext cx="5715000" cy="6858000"/>
          </a:xfrm>
          <a:prstGeom xmlns:a="http://schemas.openxmlformats.org/drawingml/2006/main" prst="rect">
            <a:avLst/>
          </a:prstGeom>
        </p:spPr>
      </p:pic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18643c06bc4c02"/>
          <a:stretch xmlns:a="http://schemas.openxmlformats.org/drawingml/2006/main"/>
        </p:blipFill>
        <p:spPr>
          <a:xfrm xmlns:a="http://schemas.openxmlformats.org/drawingml/2006/main">
            <a:off x="627299" y="533400"/>
            <a:ext cx="2936401" cy="77152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28C408-9CE1-4252-BDA8-E2677BC48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05740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DDC18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DDC18F"/>
                </a:solidFill>
                <a:latin typeface="PingFang SC"/>
                <a:ea typeface="PingFang SC"/>
                <a:cs typeface="PingFang SC"/>
              </a:rPr>
              <a:t>2025—2026 学年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0269BA-0C98-4C96-892D-1F5FFB30D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705100"/>
            <a:ext cx="5619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75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4875" b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卓越青年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0C63AE-E052-46A4-A636-6AD787D11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524250"/>
            <a:ext cx="571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75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4875" b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学习优秀奖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5F2C6C-8DEE-42E2-B38D-15D028939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43425"/>
            <a:ext cx="542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DDC18F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DDC18F"/>
                </a:solidFill>
                <a:latin typeface="PingFang SC"/>
                <a:ea typeface="PingFang SC"/>
                <a:cs typeface="PingFang SC"/>
              </a:rPr>
              <a:t>申请答辩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BF13BD-EED3-4F94-A1B4-7696D648E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24500"/>
            <a:ext cx="523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孟婷玉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19C091-BB3F-4E8D-94FE-71CFCCA45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76950"/>
            <a:ext cx="552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FCCD5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BFCCD5"/>
                </a:solidFill>
                <a:latin typeface="PingFang SC"/>
                <a:ea typeface="PingFang SC"/>
                <a:cs typeface="PingFang SC"/>
              </a:rPr>
              <a:t>信息工程学院  2025级通信专业2502班</a:t>
            </a:r>
          </a:p>
        </p:txBody>
      </p:sp>
    </p:spTree>
    <p:extLst>
      <p:ext uri="{BB962C8B-B14F-4D97-AF65-F5344CB8AC3E}">
        <p14:creationId xmlns:p14="http://schemas.microsoft.com/office/powerpoint/2010/main" val="3998850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098A45-EB20-417A-A129-FDDF6A174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C5D6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4C5D68"/>
                </a:solidFill>
                <a:latin typeface="PingFang SC"/>
                <a:ea typeface="PingFang SC"/>
                <a:cs typeface="PingFang SC"/>
              </a:rPr>
              <a:t>个人概览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C8233A-87BA-45DE-A94C-6AE0314C7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00050"/>
            <a:ext cx="3571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C5D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4C5D68"/>
                </a:solidFill>
                <a:latin typeface="PingFang SC"/>
                <a:ea typeface="PingFang SC"/>
                <a:cs typeface="PingFang SC"/>
              </a:rPr>
              <a:t>天津商业大学  /  信息工程学院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7FE1F0-8C13-456D-9CAF-72F7467A9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19175"/>
            <a:ext cx="11010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D43"/>
                </a:solidFill>
                <a:latin typeface="Songti SC"/>
                <a:ea typeface="Songti SC"/>
                <a:cs typeface="Songti SC"/>
              </a:defRPr>
            </a:pPr>
            <a:r>
              <a:rPr sz="3225" b="1">
                <a:solidFill>
                  <a:srgbClr val="102D43"/>
                </a:solidFill>
                <a:latin typeface="Songti SC"/>
                <a:ea typeface="Songti SC"/>
                <a:cs typeface="Songti SC"/>
              </a:rPr>
              <a:t>我的大一学习成果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ED25C7-5885-4659-87BB-A6571E87D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14550"/>
            <a:ext cx="400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02D43"/>
                </a:solidFill>
                <a:latin typeface="Songti SC"/>
                <a:ea typeface="Songti SC"/>
                <a:cs typeface="Songti SC"/>
              </a:defRPr>
            </a:pPr>
            <a:r>
              <a:rPr sz="3675" b="1">
                <a:solidFill>
                  <a:srgbClr val="102D43"/>
                </a:solidFill>
                <a:latin typeface="Songti SC"/>
                <a:ea typeface="Songti SC"/>
                <a:cs typeface="Songti SC"/>
              </a:rPr>
              <a:t>孟婷玉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21A06B-55BC-4568-B549-5B4C8B082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09900"/>
            <a:ext cx="4000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C5D68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4C5D68"/>
                </a:solidFill>
                <a:latin typeface="PingFang SC"/>
                <a:ea typeface="PingFang SC"/>
                <a:cs typeface="PingFang SC"/>
              </a:rPr>
              <a:t>信息工程学院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7F5C9A-007A-4690-B46A-41E75E01C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480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C5D6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4C5D68"/>
                </a:solidFill>
                <a:latin typeface="PingFang SC"/>
                <a:ea typeface="PingFang SC"/>
                <a:cs typeface="PingFang SC"/>
              </a:rPr>
              <a:t>2025级通信专业2502班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584049-801C-4CA3-A6EC-AE844EF47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577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87602D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87602D"/>
                </a:solidFill>
                <a:latin typeface="PingFang SC"/>
                <a:ea typeface="PingFang SC"/>
                <a:cs typeface="PingFang SC"/>
              </a:rPr>
              <a:t>学业与荣誉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050207-4C8C-408F-954A-36E24901E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95850"/>
            <a:ext cx="442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C5D6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4C5D68"/>
                </a:solidFill>
                <a:latin typeface="PingFang SC"/>
                <a:ea typeface="PingFang SC"/>
                <a:cs typeface="PingFang SC"/>
              </a:rPr>
              <a:t>绩点 3.33    学习成绩 14 / 104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A69A9E-897F-4C1F-B70F-274B19B1E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578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C5D6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4C5D68"/>
                </a:solidFill>
                <a:latin typeface="PingFang SC"/>
                <a:ea typeface="PingFang SC"/>
                <a:cs typeface="PingFang SC"/>
              </a:rPr>
              <a:t>本学年无挂科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113215-5A68-47BB-9C56-24D12639B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19750"/>
            <a:ext cx="4429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C5D6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4C5D68"/>
                </a:solidFill>
                <a:latin typeface="PingFang SC"/>
                <a:ea typeface="PingFang SC"/>
                <a:cs typeface="PingFang SC"/>
              </a:rPr>
              <a:t>校级三好学生、二等奖学金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7887D0-D582-47AA-88EC-B24CA2E78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2057400"/>
            <a:ext cx="6029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D43"/>
                </a:solidFill>
                <a:latin typeface="Songti SC"/>
                <a:ea typeface="Songti SC"/>
                <a:cs typeface="Songti SC"/>
              </a:defRPr>
            </a:pPr>
            <a:r>
              <a:rPr sz="3225" b="1">
                <a:solidFill>
                  <a:srgbClr val="102D43"/>
                </a:solidFill>
                <a:latin typeface="Songti SC"/>
                <a:ea typeface="Songti SC"/>
                <a:cs typeface="Songti SC"/>
              </a:rPr>
              <a:t>大一通过四六级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EFD560-662F-40D6-A06F-0C7A1EC65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2847975"/>
            <a:ext cx="5953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87602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87602D"/>
                </a:solidFill>
                <a:latin typeface="PingFang SC"/>
                <a:ea typeface="PingFang SC"/>
                <a:cs typeface="PingFang SC"/>
              </a:rPr>
              <a:t>四级 523分    六级 452分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EB203C-E7FA-4531-BEA0-5A3A47ACC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3390900"/>
            <a:ext cx="59912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C5D6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4C5D68"/>
                </a:solidFill>
                <a:latin typeface="PingFang SC"/>
                <a:ea typeface="PingFang SC"/>
                <a:cs typeface="PingFang SC"/>
              </a:rPr>
              <a:t>2025年12月通过四级，2026年6月通过六级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80DE9E-5304-4B2E-B549-6CC2E87D9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4276725"/>
            <a:ext cx="60293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02D43"/>
                </a:solidFill>
                <a:latin typeface="Songti SC"/>
                <a:ea typeface="Songti SC"/>
                <a:cs typeface="Songti SC"/>
              </a:defRPr>
            </a:pPr>
            <a:r>
              <a:rPr sz="2925" b="1">
                <a:solidFill>
                  <a:srgbClr val="102D43"/>
                </a:solidFill>
                <a:latin typeface="Songti SC"/>
                <a:ea typeface="Songti SC"/>
                <a:cs typeface="Songti SC"/>
              </a:rPr>
              <a:t>大唐杯竞赛，担任队长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3CF16F-4079-43F0-B2AB-758DBFC18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5029200"/>
            <a:ext cx="5953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87602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87602D"/>
                </a:solidFill>
                <a:latin typeface="PingFang SC"/>
                <a:ea typeface="PingFang SC"/>
                <a:cs typeface="PingFang SC"/>
              </a:rPr>
              <a:t>天津省赛区三等奖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89DC60-540F-441F-82A2-FAF912CCF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5572125"/>
            <a:ext cx="59912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C5D6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4C5D68"/>
                </a:solidFill>
                <a:latin typeface="PingFang SC"/>
                <a:ea typeface="PingFang SC"/>
                <a:cs typeface="PingFang SC"/>
              </a:rPr>
              <a:t>负责小组分工，承担主要答题任务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70C208-BE37-4CC9-B9ED-3E680D524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752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C5D6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4C5D68"/>
                </a:solidFill>
                <a:latin typeface="PingFang SC"/>
                <a:ea typeface="PingFang SC"/>
                <a:cs typeface="PingFang SC"/>
              </a:rPr>
              <a:t>2025—2026学年“卓越青年”学习优秀奖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D5592A-5DD4-4BD8-A1D5-CB750D109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4198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C5D6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4C5D68"/>
                </a:solidFill>
                <a:latin typeface="PingFang SC"/>
                <a:ea typeface="PingFang SC"/>
                <a:cs typeface="PingFang SC"/>
              </a:rPr>
              <a:t>孟婷玉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3EA148-EF5A-4CF7-8A55-9C2C40F13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419850"/>
            <a:ext cx="781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C5D6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4C5D68"/>
                </a:solidFill>
                <a:latin typeface="PingFang SC"/>
                <a:ea typeface="PingFang SC"/>
                <a:cs typeface="PingFang SC"/>
              </a:rPr>
              <a:t>02 / 09</a:t>
            </a:r>
          </a:p>
        </p:txBody>
      </p:sp>
    </p:spTree>
    <p:extLst>
      <p:ext uri="{BB962C8B-B14F-4D97-AF65-F5344CB8AC3E}">
        <p14:creationId xmlns:p14="http://schemas.microsoft.com/office/powerpoint/2010/main" val="21031258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51F7AC-B91A-4871-BE6A-F41B48B23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C5D6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4C5D68"/>
                </a:solidFill>
                <a:latin typeface="PingFang SC"/>
                <a:ea typeface="PingFang SC"/>
                <a:cs typeface="PingFang SC"/>
              </a:rPr>
              <a:t>学业基础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646F18-F6B3-488D-AA4C-8B542DCBC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00050"/>
            <a:ext cx="3571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C5D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4C5D68"/>
                </a:solidFill>
                <a:latin typeface="PingFang SC"/>
                <a:ea typeface="PingFang SC"/>
                <a:cs typeface="PingFang SC"/>
              </a:rPr>
              <a:t>天津商业大学  /  信息工程学院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D84545-BF57-4582-9AEF-47D50C89E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19175"/>
            <a:ext cx="11010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D43"/>
                </a:solidFill>
                <a:latin typeface="Songti SC"/>
                <a:ea typeface="Songti SC"/>
                <a:cs typeface="Songti SC"/>
              </a:defRPr>
            </a:pPr>
            <a:r>
              <a:rPr sz="3225" b="1">
                <a:solidFill>
                  <a:srgbClr val="102D43"/>
                </a:solidFill>
                <a:latin typeface="Songti SC"/>
                <a:ea typeface="Songti SC"/>
                <a:cs typeface="Songti SC"/>
              </a:rPr>
              <a:t>学业成绩与综合表现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30bd4da8be40ba"/>
          <a:srcRect xmlns:a="http://schemas.openxmlformats.org/drawingml/2006/main" l="4717" t="0" r="471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971675"/>
            <a:ext cx="3333750" cy="4152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EBFDDC-723F-41A5-B905-D7EE9C3AD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962150"/>
            <a:ext cx="676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C5D68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4C5D68"/>
                </a:solidFill>
                <a:latin typeface="PingFang SC"/>
                <a:ea typeface="PingFang SC"/>
                <a:cs typeface="PingFang SC"/>
              </a:rPr>
              <a:t>学习成绩排名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990D04-4DF4-4871-A410-DB59DC54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33625"/>
            <a:ext cx="26193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0" b="1">
                <a:solidFill>
                  <a:srgbClr val="102D43"/>
                </a:solidFill>
                <a:latin typeface="PingFang SC"/>
                <a:ea typeface="PingFang SC"/>
                <a:cs typeface="PingFang SC"/>
              </a:defRPr>
            </a:pPr>
            <a:r>
              <a:rPr sz="8250" b="1">
                <a:solidFill>
                  <a:srgbClr val="102D43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95F20D-4CDC-42DD-91E7-071FFA8C9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733675"/>
            <a:ext cx="352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75" b="0">
                <a:solidFill>
                  <a:srgbClr val="4C5D68"/>
                </a:solidFill>
                <a:latin typeface="PingFang SC"/>
                <a:ea typeface="PingFang SC"/>
                <a:cs typeface="PingFang SC"/>
              </a:defRPr>
            </a:pPr>
            <a:r>
              <a:rPr sz="3975" b="0">
                <a:solidFill>
                  <a:srgbClr val="4C5D68"/>
                </a:solidFill>
                <a:latin typeface="PingFang SC"/>
                <a:ea typeface="PingFang SC"/>
                <a:cs typeface="PingFang SC"/>
              </a:rPr>
              <a:t>/ 104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FFB3F3-E219-4B9A-8DAA-C62A7C62E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838450"/>
            <a:ext cx="22764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87602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87602D"/>
                </a:solidFill>
                <a:latin typeface="PingFang SC"/>
                <a:ea typeface="PingFang SC"/>
                <a:cs typeface="PingFang SC"/>
              </a:rPr>
              <a:t>约前 13.5%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F9DDD7-B4CA-4B10-AD05-7FA62FAAD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914775"/>
            <a:ext cx="238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02D43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102D43"/>
                </a:solidFill>
                <a:latin typeface="PingFang SC"/>
                <a:ea typeface="PingFang SC"/>
                <a:cs typeface="PingFang SC"/>
              </a:rPr>
              <a:t>3.33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44686F-70AD-4E45-A161-975A9E232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914775"/>
            <a:ext cx="257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02D43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102D43"/>
                </a:solidFill>
                <a:latin typeface="PingFang SC"/>
                <a:ea typeface="PingFang SC"/>
                <a:cs typeface="PingFang SC"/>
              </a:rPr>
              <a:t>7 / 35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37896E-8A12-42E9-A485-4B9E2B5EA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3914775"/>
            <a:ext cx="20288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2D43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02D43"/>
                </a:solidFill>
                <a:latin typeface="PingFang SC"/>
                <a:ea typeface="PingFang SC"/>
                <a:cs typeface="PingFang SC"/>
              </a:rPr>
              <a:t>第12名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F75F6A-D10A-43F9-92F4-2D34D7499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7625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C5D6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4C5D68"/>
                </a:solidFill>
                <a:latin typeface="PingFang SC"/>
                <a:ea typeface="PingFang SC"/>
                <a:cs typeface="PingFang SC"/>
              </a:rPr>
              <a:t>绩点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FAFF97-8C7D-42F1-AC76-2C5E963BE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7625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C5D6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4C5D68"/>
                </a:solidFill>
                <a:latin typeface="PingFang SC"/>
                <a:ea typeface="PingFang SC"/>
                <a:cs typeface="PingFang SC"/>
              </a:rPr>
              <a:t>班级排名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3962FB-207F-4709-B0FB-CC68D61A1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762500"/>
            <a:ext cx="2143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C5D6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4C5D68"/>
                </a:solidFill>
                <a:latin typeface="PingFang SC"/>
                <a:ea typeface="PingFang SC"/>
                <a:cs typeface="PingFang SC"/>
              </a:rPr>
              <a:t>综合成绩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DC3858-71B2-41CA-BBBF-0B16D9BC8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524500"/>
            <a:ext cx="714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87602D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87602D"/>
                </a:solidFill>
                <a:latin typeface="PingFang SC"/>
                <a:ea typeface="PingFang SC"/>
                <a:cs typeface="PingFang SC"/>
              </a:rPr>
              <a:t>本学年无挂科    思想品德考评优秀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03B377-E9CF-4006-8AF5-A0401BC5D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752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C5D6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4C5D68"/>
                </a:solidFill>
                <a:latin typeface="PingFang SC"/>
                <a:ea typeface="PingFang SC"/>
                <a:cs typeface="PingFang SC"/>
              </a:rPr>
              <a:t>2025—2026学年“卓越青年”学习优秀奖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CE91F7-C484-48A1-B15C-C9CAA29E0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4198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C5D6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4C5D68"/>
                </a:solidFill>
                <a:latin typeface="PingFang SC"/>
                <a:ea typeface="PingFang SC"/>
                <a:cs typeface="PingFang SC"/>
              </a:rPr>
              <a:t>孟婷玉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45DC81-19E0-4066-A9E3-9D46D450D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419850"/>
            <a:ext cx="781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C5D6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4C5D68"/>
                </a:solidFill>
                <a:latin typeface="PingFang SC"/>
                <a:ea typeface="PingFang SC"/>
                <a:cs typeface="PingFang SC"/>
              </a:rPr>
              <a:t>03 / 09</a:t>
            </a:r>
          </a:p>
        </p:txBody>
      </p:sp>
    </p:spTree>
    <p:extLst>
      <p:ext uri="{BB962C8B-B14F-4D97-AF65-F5344CB8AC3E}">
        <p14:creationId xmlns:p14="http://schemas.microsoft.com/office/powerpoint/2010/main" val="16584891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69F21B-0FE8-4E45-9920-87902D5D2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C5D6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4C5D68"/>
                </a:solidFill>
                <a:latin typeface="PingFang SC"/>
                <a:ea typeface="PingFang SC"/>
                <a:cs typeface="PingFang SC"/>
              </a:rPr>
              <a:t>英语能力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31B440-D871-4143-BE1D-4B1173C26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00050"/>
            <a:ext cx="3571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C5D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4C5D68"/>
                </a:solidFill>
                <a:latin typeface="PingFang SC"/>
                <a:ea typeface="PingFang SC"/>
                <a:cs typeface="PingFang SC"/>
              </a:rPr>
              <a:t>天津商业大学  /  信息工程学院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57C502-0FF5-4CC6-897B-358C62B21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19175"/>
            <a:ext cx="11010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D43"/>
                </a:solidFill>
                <a:latin typeface="Songti SC"/>
                <a:ea typeface="Songti SC"/>
                <a:cs typeface="Songti SC"/>
              </a:defRPr>
            </a:pPr>
            <a:r>
              <a:rPr sz="3225" b="1">
                <a:solidFill>
                  <a:srgbClr val="102D43"/>
                </a:solidFill>
                <a:latin typeface="Songti SC"/>
                <a:ea typeface="Songti SC"/>
                <a:cs typeface="Songti SC"/>
              </a:rPr>
              <a:t>大一学年，通过英语四级和六级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2F9939-BC6E-4C9E-9297-B94E7288B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32099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87602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87602D"/>
                </a:solidFill>
                <a:latin typeface="PingFang SC"/>
                <a:ea typeface="PingFang SC"/>
                <a:cs typeface="PingFang SC"/>
              </a:rPr>
              <a:t>2025年12月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173648-940F-476C-B37C-84B958602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095500"/>
            <a:ext cx="7124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02D43"/>
                </a:solidFill>
                <a:latin typeface="Songti SC"/>
                <a:ea typeface="Songti SC"/>
                <a:cs typeface="Songti SC"/>
              </a:defRPr>
            </a:pPr>
            <a:r>
              <a:rPr sz="2925" b="1">
                <a:solidFill>
                  <a:srgbClr val="102D43"/>
                </a:solidFill>
                <a:latin typeface="Songti SC"/>
                <a:ea typeface="Songti SC"/>
                <a:cs typeface="Songti SC"/>
              </a:rPr>
              <a:t>大学英语四级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0F738A-CA85-4DBD-8C97-5AFB7CF82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781300"/>
            <a:ext cx="2476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102D43"/>
                </a:solidFill>
                <a:latin typeface="PingFang SC"/>
                <a:ea typeface="PingFang SC"/>
                <a:cs typeface="PingFang SC"/>
              </a:defRPr>
            </a:pPr>
            <a:r>
              <a:rPr sz="5850" b="1">
                <a:solidFill>
                  <a:srgbClr val="102D43"/>
                </a:solidFill>
                <a:latin typeface="PingFang SC"/>
                <a:ea typeface="PingFang SC"/>
                <a:cs typeface="PingFang SC"/>
              </a:rPr>
              <a:t>523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C9225E-C393-4492-827F-671AF7F3A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14675"/>
            <a:ext cx="4762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4C5D68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4C5D68"/>
                </a:solidFill>
                <a:latin typeface="PingFang SC"/>
                <a:ea typeface="PingFang SC"/>
                <a:cs typeface="PingFang SC"/>
              </a:rPr>
              <a:t>分，通过四级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E60DD6-4A5C-4985-BE19-A539286E8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57650"/>
            <a:ext cx="32099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87602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87602D"/>
                </a:solidFill>
                <a:latin typeface="PingFang SC"/>
                <a:ea typeface="PingFang SC"/>
                <a:cs typeface="PingFang SC"/>
              </a:rPr>
              <a:t>2026年6月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D8F289-1855-4EB5-9FC5-7729C1DCD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990975"/>
            <a:ext cx="7124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02D43"/>
                </a:solidFill>
                <a:latin typeface="Songti SC"/>
                <a:ea typeface="Songti SC"/>
                <a:cs typeface="Songti SC"/>
              </a:defRPr>
            </a:pPr>
            <a:r>
              <a:rPr sz="2925" b="1">
                <a:solidFill>
                  <a:srgbClr val="102D43"/>
                </a:solidFill>
                <a:latin typeface="Songti SC"/>
                <a:ea typeface="Songti SC"/>
                <a:cs typeface="Songti SC"/>
              </a:rPr>
              <a:t>大学英语六级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82D487-98DE-4D87-9E7C-34B349FBD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4676775"/>
            <a:ext cx="2476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102D43"/>
                </a:solidFill>
                <a:latin typeface="PingFang SC"/>
                <a:ea typeface="PingFang SC"/>
                <a:cs typeface="PingFang SC"/>
              </a:defRPr>
            </a:pPr>
            <a:r>
              <a:rPr sz="5850" b="1">
                <a:solidFill>
                  <a:srgbClr val="102D43"/>
                </a:solidFill>
                <a:latin typeface="PingFang SC"/>
                <a:ea typeface="PingFang SC"/>
                <a:cs typeface="PingFang SC"/>
              </a:rPr>
              <a:t>452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8AB675-00D0-474E-9885-D170BA110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10150"/>
            <a:ext cx="4762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4C5D68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4C5D68"/>
                </a:solidFill>
                <a:latin typeface="PingFang SC"/>
                <a:ea typeface="PingFang SC"/>
                <a:cs typeface="PingFang SC"/>
              </a:rPr>
              <a:t>分，通过六级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D9770A-AF81-4705-B03F-5F70817F4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19775"/>
            <a:ext cx="10668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C5D68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4C5D68"/>
                </a:solidFill>
                <a:latin typeface="PingFang SC"/>
                <a:ea typeface="PingFang SC"/>
                <a:cs typeface="PingFang SC"/>
              </a:rPr>
              <a:t>大一学年内，先后通过四级和六级考试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4DD61F-4B1E-4BCC-80C3-36489E782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752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C5D6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4C5D68"/>
                </a:solidFill>
                <a:latin typeface="PingFang SC"/>
                <a:ea typeface="PingFang SC"/>
                <a:cs typeface="PingFang SC"/>
              </a:rPr>
              <a:t>2025—2026学年“卓越青年”学习优秀奖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757CD9-2309-47A6-B720-2802A0126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4198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C5D6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4C5D68"/>
                </a:solidFill>
                <a:latin typeface="PingFang SC"/>
                <a:ea typeface="PingFang SC"/>
                <a:cs typeface="PingFang SC"/>
              </a:rPr>
              <a:t>孟婷玉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15677A-4165-4CE9-869B-55699242A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419850"/>
            <a:ext cx="781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C5D6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4C5D68"/>
                </a:solidFill>
                <a:latin typeface="PingFang SC"/>
                <a:ea typeface="PingFang SC"/>
                <a:cs typeface="PingFang SC"/>
              </a:rPr>
              <a:t>04 / 09</a:t>
            </a:r>
          </a:p>
        </p:txBody>
      </p:sp>
    </p:spTree>
    <p:extLst>
      <p:ext uri="{BB962C8B-B14F-4D97-AF65-F5344CB8AC3E}">
        <p14:creationId xmlns:p14="http://schemas.microsoft.com/office/powerpoint/2010/main" val="18530951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7DA87C-F744-4990-BA4E-2097DEDBE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C5D6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4C5D68"/>
                </a:solidFill>
                <a:latin typeface="PingFang SC"/>
                <a:ea typeface="PingFang SC"/>
                <a:cs typeface="PingFang SC"/>
              </a:rPr>
              <a:t>英语证据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AB980C-2C43-4A4E-A36B-F1E3DDCE4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00050"/>
            <a:ext cx="3571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C5D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4C5D68"/>
                </a:solidFill>
                <a:latin typeface="PingFang SC"/>
                <a:ea typeface="PingFang SC"/>
                <a:cs typeface="PingFang SC"/>
              </a:rPr>
              <a:t>天津商业大学  /  信息工程学院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8960A1-819E-4EFC-A937-A646A900E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19175"/>
            <a:ext cx="11010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D43"/>
                </a:solidFill>
                <a:latin typeface="Songti SC"/>
                <a:ea typeface="Songti SC"/>
                <a:cs typeface="Songti SC"/>
              </a:defRPr>
            </a:pPr>
            <a:r>
              <a:rPr sz="3225" b="1">
                <a:solidFill>
                  <a:srgbClr val="102D43"/>
                </a:solidFill>
                <a:latin typeface="Songti SC"/>
                <a:ea typeface="Songti SC"/>
                <a:cs typeface="Songti SC"/>
              </a:rPr>
              <a:t>英语成绩报告单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DDB690-B9B0-4F58-AC28-88A20133F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3190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D43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02D43"/>
                </a:solidFill>
                <a:latin typeface="PingFang SC"/>
                <a:ea typeface="PingFang SC"/>
                <a:cs typeface="PingFang SC"/>
              </a:rPr>
              <a:t>大学英语四级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21BA27-04AD-4E7D-907C-A8EDC68FC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051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C5D6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4C5D68"/>
                </a:solidFill>
                <a:latin typeface="PingFang SC"/>
                <a:ea typeface="PingFang SC"/>
                <a:cs typeface="PingFang SC"/>
              </a:rPr>
              <a:t>2025年12月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b388298aef4900"/>
          <a:stretch xmlns:a="http://schemas.openxmlformats.org/drawingml/2006/main"/>
        </p:blipFill>
        <p:spPr>
          <a:xfrm xmlns:a="http://schemas.openxmlformats.org/drawingml/2006/main">
            <a:off x="3978948" y="2038350"/>
            <a:ext cx="7586905" cy="18573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281335-E445-4284-8EC8-FC0AFB8ED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3190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D43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02D43"/>
                </a:solidFill>
                <a:latin typeface="PingFang SC"/>
                <a:ea typeface="PingFang SC"/>
                <a:cs typeface="PingFang SC"/>
              </a:rPr>
              <a:t>大学英语六级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868295-B25E-46D8-85C6-AFC4ABBB2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863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C5D6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4C5D68"/>
                </a:solidFill>
                <a:latin typeface="PingFang SC"/>
                <a:ea typeface="PingFang SC"/>
                <a:cs typeface="PingFang SC"/>
              </a:rPr>
              <a:t>2026年6月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0a4bdead2b4fc9"/>
          <a:stretch xmlns:a="http://schemas.openxmlformats.org/drawingml/2006/main"/>
        </p:blipFill>
        <p:spPr>
          <a:xfrm xmlns:a="http://schemas.openxmlformats.org/drawingml/2006/main">
            <a:off x="3978948" y="4219575"/>
            <a:ext cx="7586905" cy="185737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9C31C8-22C3-4886-8CD4-7F0BCA213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752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C5D6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4C5D68"/>
                </a:solidFill>
                <a:latin typeface="PingFang SC"/>
                <a:ea typeface="PingFang SC"/>
                <a:cs typeface="PingFang SC"/>
              </a:rPr>
              <a:t>2025—2026学年“卓越青年”学习优秀奖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444929-002B-434F-8D80-24AE77F9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4198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C5D6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4C5D68"/>
                </a:solidFill>
                <a:latin typeface="PingFang SC"/>
                <a:ea typeface="PingFang SC"/>
                <a:cs typeface="PingFang SC"/>
              </a:rPr>
              <a:t>孟婷玉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7EDA80-EEB3-4066-BB52-4061B5E38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419850"/>
            <a:ext cx="781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C5D6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4C5D68"/>
                </a:solidFill>
                <a:latin typeface="PingFang SC"/>
                <a:ea typeface="PingFang SC"/>
                <a:cs typeface="PingFang SC"/>
              </a:rPr>
              <a:t>05 / 09</a:t>
            </a:r>
          </a:p>
        </p:txBody>
      </p:sp>
    </p:spTree>
    <p:extLst>
      <p:ext uri="{BB962C8B-B14F-4D97-AF65-F5344CB8AC3E}">
        <p14:creationId xmlns:p14="http://schemas.microsoft.com/office/powerpoint/2010/main" val="7435894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4D399E-1FB4-4691-B9EF-97E47D78A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C5D6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4C5D68"/>
                </a:solidFill>
                <a:latin typeface="PingFang SC"/>
                <a:ea typeface="PingFang SC"/>
                <a:cs typeface="PingFang SC"/>
              </a:rPr>
              <a:t>竞赛实践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0ED3A2-3014-4D73-BE17-B77CEE9E2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00050"/>
            <a:ext cx="3571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C5D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4C5D68"/>
                </a:solidFill>
                <a:latin typeface="PingFang SC"/>
                <a:ea typeface="PingFang SC"/>
                <a:cs typeface="PingFang SC"/>
              </a:rPr>
              <a:t>天津商业大学  /  信息工程学院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C2519A-6A1A-4F61-8E77-E4D37C1C0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19175"/>
            <a:ext cx="11010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D43"/>
                </a:solidFill>
                <a:latin typeface="Songti SC"/>
                <a:ea typeface="Songti SC"/>
                <a:cs typeface="Songti SC"/>
              </a:defRPr>
            </a:pPr>
            <a:r>
              <a:rPr sz="3225" b="1">
                <a:solidFill>
                  <a:srgbClr val="102D43"/>
                </a:solidFill>
                <a:latin typeface="Songti SC"/>
                <a:ea typeface="Songti SC"/>
                <a:cs typeface="Songti SC"/>
              </a:rPr>
              <a:t>大唐杯竞赛实践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3A9D8D-BD03-4BB9-94B0-BDA007EDE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28825"/>
            <a:ext cx="4743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D43"/>
                </a:solidFill>
                <a:latin typeface="Songti SC"/>
                <a:ea typeface="Songti SC"/>
                <a:cs typeface="Songti SC"/>
              </a:defRPr>
            </a:pPr>
            <a:r>
              <a:rPr sz="3225" b="1">
                <a:solidFill>
                  <a:srgbClr val="102D43"/>
                </a:solidFill>
                <a:latin typeface="Songti SC"/>
                <a:ea typeface="Songti SC"/>
                <a:cs typeface="Songti SC"/>
              </a:rPr>
              <a:t>队长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96D14D-F598-4D8F-A80B-E472BE711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00350"/>
            <a:ext cx="47720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D4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02D43"/>
                </a:solidFill>
                <a:latin typeface="PingFang SC"/>
                <a:ea typeface="PingFang SC"/>
                <a:cs typeface="PingFang SC"/>
              </a:rPr>
              <a:t>负责小组分工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45DFBA-420D-4F20-AFF7-E19AA04CF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43275"/>
            <a:ext cx="47720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D4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02D43"/>
                </a:solidFill>
                <a:latin typeface="PingFang SC"/>
                <a:ea typeface="PingFang SC"/>
                <a:cs typeface="PingFang SC"/>
              </a:rPr>
              <a:t>承担主要答题任务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22CE49-2879-46E0-9E44-869246BFB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81450"/>
            <a:ext cx="47720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C5D6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4C5D68"/>
                </a:solidFill>
                <a:latin typeface="PingFang SC"/>
                <a:ea typeface="PingFang SC"/>
                <a:cs typeface="PingFang SC"/>
              </a:rPr>
              <a:t>参赛队员：孟婷玉、王迪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64EB85-8304-4B0B-8B54-D9F4A57F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86300"/>
            <a:ext cx="47720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87602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87602D"/>
                </a:solidFill>
                <a:latin typeface="PingFang SC"/>
                <a:ea typeface="PingFang SC"/>
                <a:cs typeface="PingFang SC"/>
              </a:rPr>
              <a:t>天津省赛区三等奖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0F5C53-2A9A-4352-8F57-68FED57FB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10175"/>
            <a:ext cx="47720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C5D6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4C5D68"/>
                </a:solidFill>
                <a:latin typeface="PingFang SC"/>
                <a:ea typeface="PingFang SC"/>
                <a:cs typeface="PingFang SC"/>
              </a:rPr>
              <a:t>第十三届大学生新一代</a:t>
            </a:r>
          </a:p>
          <a:p xmlns:a="http://schemas.openxmlformats.org/drawingml/2006/main">
            <a:pPr>
              <a:defRPr sz="1725" b="0">
                <a:solidFill>
                  <a:srgbClr val="4C5D6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4C5D68"/>
                </a:solidFill>
                <a:latin typeface="PingFang SC"/>
                <a:ea typeface="PingFang SC"/>
                <a:cs typeface="PingFang SC"/>
              </a:rPr>
              <a:t>信息通信科技大赛</a:t>
            </a:r>
          </a:p>
          <a:p xmlns:a="http://schemas.openxmlformats.org/drawingml/2006/main">
            <a:pPr>
              <a:defRPr sz="1725" b="0">
                <a:solidFill>
                  <a:srgbClr val="4C5D6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4C5D68"/>
                </a:solidFill>
                <a:latin typeface="PingFang SC"/>
                <a:ea typeface="PingFang SC"/>
                <a:cs typeface="PingFang SC"/>
              </a:rPr>
              <a:t>工程实践赛道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198c83cf7b4b96"/>
          <a:stretch xmlns:a="http://schemas.openxmlformats.org/drawingml/2006/main"/>
        </p:blipFill>
        <p:spPr>
          <a:xfrm xmlns:a="http://schemas.openxmlformats.org/drawingml/2006/main">
            <a:off x="5791200" y="2029511"/>
            <a:ext cx="5791200" cy="4094378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A03FA7-9F84-4628-A255-BFB42BA88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752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C5D6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4C5D68"/>
                </a:solidFill>
                <a:latin typeface="PingFang SC"/>
                <a:ea typeface="PingFang SC"/>
                <a:cs typeface="PingFang SC"/>
              </a:rPr>
              <a:t>2025—2026学年“卓越青年”学习优秀奖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34EE9A-AD74-45AD-A2C0-8B94FF8F9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4198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C5D6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4C5D68"/>
                </a:solidFill>
                <a:latin typeface="PingFang SC"/>
                <a:ea typeface="PingFang SC"/>
                <a:cs typeface="PingFang SC"/>
              </a:rPr>
              <a:t>孟婷玉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6E9E82-02C2-4432-A9B6-45556F05F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419850"/>
            <a:ext cx="781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C5D6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4C5D68"/>
                </a:solidFill>
                <a:latin typeface="PingFang SC"/>
                <a:ea typeface="PingFang SC"/>
                <a:cs typeface="PingFang SC"/>
              </a:rPr>
              <a:t>06 / 09</a:t>
            </a:r>
          </a:p>
        </p:txBody>
      </p:sp>
    </p:spTree>
    <p:extLst>
      <p:ext uri="{BB962C8B-B14F-4D97-AF65-F5344CB8AC3E}">
        <p14:creationId xmlns:p14="http://schemas.microsoft.com/office/powerpoint/2010/main" val="42272914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FCA82E-E472-4801-8A2E-3736DAE26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C5D6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4C5D68"/>
                </a:solidFill>
                <a:latin typeface="PingFang SC"/>
                <a:ea typeface="PingFang SC"/>
                <a:cs typeface="PingFang SC"/>
              </a:rPr>
              <a:t>校级荣誉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DE35BC-DE0D-45DF-A6C3-EB7454266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00050"/>
            <a:ext cx="3571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C5D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4C5D68"/>
                </a:solidFill>
                <a:latin typeface="PingFang SC"/>
                <a:ea typeface="PingFang SC"/>
                <a:cs typeface="PingFang SC"/>
              </a:rPr>
              <a:t>天津商业大学  /  信息工程学院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972AB6-6C78-4FBB-B9B9-17EF2545F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19175"/>
            <a:ext cx="11010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D43"/>
                </a:solidFill>
                <a:latin typeface="Songti SC"/>
                <a:ea typeface="Songti SC"/>
                <a:cs typeface="Songti SC"/>
              </a:defRPr>
            </a:pPr>
            <a:r>
              <a:rPr sz="3225" b="1">
                <a:solidFill>
                  <a:srgbClr val="102D43"/>
                </a:solidFill>
                <a:latin typeface="Songti SC"/>
                <a:ea typeface="Songti SC"/>
                <a:cs typeface="Songti SC"/>
              </a:rPr>
              <a:t>校级荣誉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67d56d531247bc"/>
          <a:srcRect xmlns:a="http://schemas.openxmlformats.org/drawingml/2006/main" l="0" t="13280" r="0" b="132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05650" y="1971675"/>
            <a:ext cx="4476750" cy="4152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9972DA-C4FF-4885-92C1-7B69B3013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47900"/>
            <a:ext cx="5143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87602D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87602D"/>
                </a:solidFill>
                <a:latin typeface="PingFang SC"/>
                <a:ea typeface="PingFang SC"/>
                <a:cs typeface="PingFang SC"/>
              </a:rPr>
              <a:t>校级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87097A-C7DF-4B3B-BBD1-8603390E8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752725"/>
            <a:ext cx="6048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02D43"/>
                </a:solidFill>
                <a:latin typeface="Songti SC"/>
                <a:ea typeface="Songti SC"/>
                <a:cs typeface="Songti SC"/>
              </a:defRPr>
            </a:pPr>
            <a:r>
              <a:rPr sz="4500" b="1">
                <a:solidFill>
                  <a:srgbClr val="102D43"/>
                </a:solidFill>
                <a:latin typeface="Songti SC"/>
                <a:ea typeface="Songti SC"/>
                <a:cs typeface="Songti SC"/>
              </a:rPr>
              <a:t>三好学生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99ABD6-7D9B-450D-99D1-3D806CDE3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05300"/>
            <a:ext cx="5143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87602D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87602D"/>
                </a:solidFill>
                <a:latin typeface="PingFang SC"/>
                <a:ea typeface="PingFang SC"/>
                <a:cs typeface="PingFang SC"/>
              </a:rPr>
              <a:t>校级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62E88B-BA57-4E26-BCAC-1AFDA6099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810125"/>
            <a:ext cx="6048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02D43"/>
                </a:solidFill>
                <a:latin typeface="Songti SC"/>
                <a:ea typeface="Songti SC"/>
                <a:cs typeface="Songti SC"/>
              </a:defRPr>
            </a:pPr>
            <a:r>
              <a:rPr sz="4500" b="1">
                <a:solidFill>
                  <a:srgbClr val="102D43"/>
                </a:solidFill>
                <a:latin typeface="Songti SC"/>
                <a:ea typeface="Songti SC"/>
                <a:cs typeface="Songti SC"/>
              </a:rPr>
              <a:t>二等奖学金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F9937F-4913-4EC1-A738-17A3D9305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752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C5D6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4C5D68"/>
                </a:solidFill>
                <a:latin typeface="PingFang SC"/>
                <a:ea typeface="PingFang SC"/>
                <a:cs typeface="PingFang SC"/>
              </a:rPr>
              <a:t>2025—2026学年“卓越青年”学习优秀奖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0F330D-A370-4195-ABA8-86FF7B727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4198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C5D6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4C5D68"/>
                </a:solidFill>
                <a:latin typeface="PingFang SC"/>
                <a:ea typeface="PingFang SC"/>
                <a:cs typeface="PingFang SC"/>
              </a:rPr>
              <a:t>孟婷玉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A25EE8-4A0D-4B30-A830-EE463299F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419850"/>
            <a:ext cx="781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C5D6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4C5D68"/>
                </a:solidFill>
                <a:latin typeface="PingFang SC"/>
                <a:ea typeface="PingFang SC"/>
                <a:cs typeface="PingFang SC"/>
              </a:rPr>
              <a:t>07 / 09</a:t>
            </a:r>
          </a:p>
        </p:txBody>
      </p:sp>
    </p:spTree>
    <p:extLst>
      <p:ext uri="{BB962C8B-B14F-4D97-AF65-F5344CB8AC3E}">
        <p14:creationId xmlns:p14="http://schemas.microsoft.com/office/powerpoint/2010/main" val="807015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4EA339-B3FC-486E-864D-9CE5E9FD0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C5D6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4C5D68"/>
                </a:solidFill>
                <a:latin typeface="PingFang SC"/>
                <a:ea typeface="PingFang SC"/>
                <a:cs typeface="PingFang SC"/>
              </a:rPr>
              <a:t>未来计划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E72ACE-B0E5-4157-823A-AC2BA3D4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00050"/>
            <a:ext cx="3571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C5D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4C5D68"/>
                </a:solidFill>
                <a:latin typeface="PingFang SC"/>
                <a:ea typeface="PingFang SC"/>
                <a:cs typeface="PingFang SC"/>
              </a:rPr>
              <a:t>天津商业大学  /  信息工程学院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5D7947-E215-4FE3-B2DE-9B90532A4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19175"/>
            <a:ext cx="11010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D43"/>
                </a:solidFill>
                <a:latin typeface="Songti SC"/>
                <a:ea typeface="Songti SC"/>
                <a:cs typeface="Songti SC"/>
              </a:defRPr>
            </a:pPr>
            <a:r>
              <a:rPr sz="3225" b="1">
                <a:solidFill>
                  <a:srgbClr val="102D43"/>
                </a:solidFill>
                <a:latin typeface="Songti SC"/>
                <a:ea typeface="Songti SC"/>
                <a:cs typeface="Songti SC"/>
              </a:rPr>
              <a:t>下一阶段：把学习做得更扎实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0A3C90-29A2-442F-A5A7-060078F23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2382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75" b="0">
                <a:solidFill>
                  <a:srgbClr val="87602D"/>
                </a:solidFill>
                <a:latin typeface="Songti SC"/>
                <a:ea typeface="Songti SC"/>
                <a:cs typeface="Songti SC"/>
              </a:defRPr>
            </a:pPr>
            <a:r>
              <a:rPr sz="4275" b="0">
                <a:solidFill>
                  <a:srgbClr val="87602D"/>
                </a:solidFill>
                <a:latin typeface="Songti SC"/>
                <a:ea typeface="Songti SC"/>
                <a:cs typeface="Songti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DD99F2-2B7F-4E2F-B9A3-A400AF169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09550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D43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102D43"/>
                </a:solidFill>
                <a:latin typeface="PingFang SC"/>
                <a:ea typeface="PingFang SC"/>
                <a:cs typeface="PingFang SC"/>
              </a:rPr>
              <a:t>专业课程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F58F78-FC8B-466B-A13C-DADB06352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2095500"/>
            <a:ext cx="6143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C5D68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4C5D68"/>
                </a:solidFill>
                <a:latin typeface="PingFang SC"/>
                <a:ea typeface="PingFang SC"/>
                <a:cs typeface="PingFang SC"/>
              </a:rPr>
              <a:t>每周整理错题，按知识点复盘</a:t>
            </a:r>
          </a:p>
          <a:p xmlns:a="http://schemas.openxmlformats.org/drawingml/2006/main">
            <a:pPr>
              <a:defRPr sz="2025" b="0">
                <a:solidFill>
                  <a:srgbClr val="4C5D68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4C5D68"/>
                </a:solidFill>
                <a:latin typeface="PingFang SC"/>
                <a:ea typeface="PingFang SC"/>
                <a:cs typeface="PingFang SC"/>
              </a:rPr>
              <a:t>在下一次练习中检查掌握情况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291835-8982-4E5A-A1B2-09B5752C5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12382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75" b="0">
                <a:solidFill>
                  <a:srgbClr val="87602D"/>
                </a:solidFill>
                <a:latin typeface="Songti SC"/>
                <a:ea typeface="Songti SC"/>
                <a:cs typeface="Songti SC"/>
              </a:defRPr>
            </a:pPr>
            <a:r>
              <a:rPr sz="4275" b="0">
                <a:solidFill>
                  <a:srgbClr val="87602D"/>
                </a:solidFill>
                <a:latin typeface="Songti SC"/>
                <a:ea typeface="Songti SC"/>
                <a:cs typeface="Songti SC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AB506D-047B-431D-9B9D-D46E885E2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44805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D43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102D43"/>
                </a:solidFill>
                <a:latin typeface="PingFang SC"/>
                <a:ea typeface="PingFang SC"/>
                <a:cs typeface="PingFang SC"/>
              </a:rPr>
              <a:t>英语学习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B58AE8-4F32-4964-889C-242178D6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3448050"/>
            <a:ext cx="6143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C5D68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4C5D68"/>
                </a:solidFill>
                <a:latin typeface="PingFang SC"/>
                <a:ea typeface="PingFang SC"/>
                <a:cs typeface="PingFang SC"/>
              </a:rPr>
              <a:t>持续练习听力与写作</a:t>
            </a:r>
          </a:p>
          <a:p xmlns:a="http://schemas.openxmlformats.org/drawingml/2006/main">
            <a:pPr>
              <a:defRPr sz="2025" b="0">
                <a:solidFill>
                  <a:srgbClr val="4C5D68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4C5D68"/>
                </a:solidFill>
                <a:latin typeface="PingFang SC"/>
                <a:ea typeface="PingFang SC"/>
                <a:cs typeface="PingFang SC"/>
              </a:rPr>
              <a:t>逐步阅读通信专业英文资料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B8222A-C4A8-454C-8487-3EF9349B6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12382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75" b="0">
                <a:solidFill>
                  <a:srgbClr val="87602D"/>
                </a:solidFill>
                <a:latin typeface="Songti SC"/>
                <a:ea typeface="Songti SC"/>
                <a:cs typeface="Songti SC"/>
              </a:defRPr>
            </a:pPr>
            <a:r>
              <a:rPr sz="4275" b="0">
                <a:solidFill>
                  <a:srgbClr val="87602D"/>
                </a:solidFill>
                <a:latin typeface="Songti SC"/>
                <a:ea typeface="Songti SC"/>
                <a:cs typeface="Songti SC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35CA49-59EA-4F57-AD23-ACDF74699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80060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D43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102D43"/>
                </a:solidFill>
                <a:latin typeface="PingFang SC"/>
                <a:ea typeface="PingFang SC"/>
                <a:cs typeface="PingFang SC"/>
              </a:rPr>
              <a:t>竞赛实践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7E4F85-BEDD-488A-8343-ABC97157F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4800600"/>
            <a:ext cx="6143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C5D68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4C5D68"/>
                </a:solidFill>
                <a:latin typeface="PingFang SC"/>
                <a:ea typeface="PingFang SC"/>
                <a:cs typeface="PingFang SC"/>
              </a:rPr>
              <a:t>继续参与专业竞赛</a:t>
            </a:r>
          </a:p>
          <a:p xmlns:a="http://schemas.openxmlformats.org/drawingml/2006/main">
            <a:pPr>
              <a:defRPr sz="2025" b="0">
                <a:solidFill>
                  <a:srgbClr val="4C5D68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4C5D68"/>
                </a:solidFill>
                <a:latin typeface="PingFang SC"/>
                <a:ea typeface="PingFang SC"/>
                <a:cs typeface="PingFang SC"/>
              </a:rPr>
              <a:t>记录个人任务与复盘，积累实践经验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66E496-9DFD-4900-8CB7-1486E4428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752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C5D6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4C5D68"/>
                </a:solidFill>
                <a:latin typeface="PingFang SC"/>
                <a:ea typeface="PingFang SC"/>
                <a:cs typeface="PingFang SC"/>
              </a:rPr>
              <a:t>2025—2026学年“卓越青年”学习优秀奖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B092D4-EB33-40DA-8480-00D5B6822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4198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C5D6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4C5D68"/>
                </a:solidFill>
                <a:latin typeface="PingFang SC"/>
                <a:ea typeface="PingFang SC"/>
                <a:cs typeface="PingFang SC"/>
              </a:rPr>
              <a:t>孟婷玉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05A9D0-ACE5-4A64-82D7-1845BD1DB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419850"/>
            <a:ext cx="781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C5D6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4C5D68"/>
                </a:solidFill>
                <a:latin typeface="PingFang SC"/>
                <a:ea typeface="PingFang SC"/>
                <a:cs typeface="PingFang SC"/>
              </a:rPr>
              <a:t>08 / 09</a:t>
            </a:r>
          </a:p>
        </p:txBody>
      </p:sp>
    </p:spTree>
    <p:extLst>
      <p:ext uri="{BB962C8B-B14F-4D97-AF65-F5344CB8AC3E}">
        <p14:creationId xmlns:p14="http://schemas.microsoft.com/office/powerpoint/2010/main" val="111299679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2D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9f5d3485a34069"/>
          <a:stretch xmlns:a="http://schemas.openxmlformats.org/drawingml/2006/main"/>
        </p:blipFill>
        <p:spPr>
          <a:xfrm xmlns:a="http://schemas.openxmlformats.org/drawingml/2006/main">
            <a:off x="0" y="3905250"/>
            <a:ext cx="12192000" cy="2952750"/>
          </a:xfrm>
          <a:prstGeom xmlns:a="http://schemas.openxmlformats.org/drawingml/2006/main" prst="rect">
            <a:avLst/>
          </a:prstGeom>
        </p:spPr>
      </p:pic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c36890064a49f3"/>
          <a:stretch xmlns:a="http://schemas.openxmlformats.org/drawingml/2006/main"/>
        </p:blipFill>
        <p:spPr>
          <a:xfrm xmlns:a="http://schemas.openxmlformats.org/drawingml/2006/main">
            <a:off x="8496300" y="419940"/>
            <a:ext cx="2857500" cy="750794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5EE01B-9EDF-4DAA-B07C-F2ED53653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9675"/>
            <a:ext cx="106680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175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5175" b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感谢各位老师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E30913-904C-4050-86ED-537C21FEF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37172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DDC18F"/>
                </a:solidFill>
                <a:latin typeface="PingFang SC"/>
                <a:ea typeface="PingFang SC"/>
                <a:cs typeface="PingFang SC"/>
              </a:defRPr>
            </a:pPr>
            <a:r>
              <a:rPr sz="2550" b="0">
                <a:solidFill>
                  <a:srgbClr val="DDC18F"/>
                </a:solidFill>
                <a:latin typeface="PingFang SC"/>
                <a:ea typeface="PingFang SC"/>
                <a:cs typeface="PingFang SC"/>
              </a:rPr>
              <a:t>恳请批评指正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938E86-2F64-4E04-8B43-DB9E2FD0B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670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孟婷玉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AEC376-4873-4FB6-987C-F5A5C6312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314700"/>
            <a:ext cx="7572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FCCD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BFCCD5"/>
                </a:solidFill>
                <a:latin typeface="PingFang SC"/>
                <a:ea typeface="PingFang SC"/>
                <a:cs typeface="PingFang SC"/>
              </a:rPr>
              <a:t>2025—2026学年“卓越青年”学习优秀奖申请</a:t>
            </a:r>
          </a:p>
        </p:txBody>
      </p:sp>
    </p:spTree>
    <p:extLst>
      <p:ext uri="{BB962C8B-B14F-4D97-AF65-F5344CB8AC3E}">
        <p14:creationId xmlns:p14="http://schemas.microsoft.com/office/powerpoint/2010/main" val="18535481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2026-10-02T01:30:00.5180000Z</dcterms:created>
  <dcterms:modified xsi:type="dcterms:W3CDTF">2026-10-02T01:30:00.5180000Z</dcterms:modified>
</coreProperties>
</file>